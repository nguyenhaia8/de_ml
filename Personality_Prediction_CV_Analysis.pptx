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2786493-814D-DAF5-AF82-A1C664608605}">
          <p14:sldIdLst>
            <p14:sldId id="256"/>
            <p14:sldId id="257"/>
            <p14:sldId id="258"/>
          </p14:sldIdLst>
        </p14:section>
        <p14:section name="Data" id="{F533C854-48BE-F4F1-4AB5-D158261088BE}">
          <p14:sldIdLst>
            <p14:sldId id="259"/>
            <p14:sldId id="260"/>
          </p14:sldIdLst>
        </p14:section>
        <p14:section name="Models and results" id="{02085616-1ED8-94B0-E263-33AA43E295DE}">
          <p14:sldIdLst>
            <p14:sldId id="261"/>
            <p14:sldId id="262"/>
            <p14:sldId id="263"/>
          </p14:sldIdLst>
        </p14:section>
        <p14:section name="Contribution and system" id="{3303EC05-7447-8F0E-043A-EBCC5F1BEA12}">
          <p14:sldIdLst>
            <p14:sldId id="264"/>
            <p14:sldId id="265"/>
          </p14:sldIdLst>
        </p14:section>
        <p14:section name="Wrap-up" id="{E3E7A586-E4DC-1AAE-1F1E-5578385AF82F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697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estimate Big Five personality traits from CV text, compare a paper-style baseline with an improved pipeline, and deploy it as a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questionnaires are slow and fakeable. Grunenberg et al. 2024 showed CV text carries personality signal. Earlier work used social-media likes and posts, which raises privacy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traits, each treated as a separate binary classification. Four goals: baseline, improvement, validity check on resumes,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resume data has ID, Resume_str, Resume_html and Category only. The paper had the same issue and used proprietary data. Resume PDFs by category also serve as realistic inputs for the PDF upload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preprocessing for both corpora. Punctuation is kept because TF-IDF n-grams and sentence embedders benefit from sentence boundaries. The paper excluded CVs under 50 words; our app rejects under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pipeline turns text into a feature vector and fits five independent binary classifiers. The baseline avoids a GloVe download. Out-of-fold r estimates performance on unseen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models reach about r = 0.12 on average. Openness is the standout. Swapping TF-IDF for Sentence-BERT did not raise accuracy on essays.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Job category stands in for the paper's vocational-interest validation. Several extremes match intuition, others do not; sample per category is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additions: contextual embeddings, explainability, a reproducible public training set and a deployed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backend loads both model bundles at start. The React front end lets the user paste a CV or upload a PDF and pick a model. A simple Streamlit demo with a radar chart also exists in source/.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weak accuracy, domain shift from essays to resumes, truncation at 256 word pieces, small per-category samples, and SHAP on embedding dimensions is hard to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honest takeaway: weak but real signal, a working deployed system, and clear next steps.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554480"/>
            <a:ext cx="859536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85953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CS 582 Machine Learning · Group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CS 582 Machine Learning · Group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554480"/>
            <a:ext cx="8595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Personality Prediction System via CV Analysis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Predicting Big Five traits from the text of a resume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42278" y="4846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chemeClr val="bg1"/>
                </a:solidFill>
              </a:rPr>
              <a:t>Thanh Hai Nguyen (619562) · Khanh Tran Nguyen (619956) · Cuong Do Manh (618655)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2578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CS 582 Machine Learning — Group 3</a:t>
            </a:r>
            <a:endParaRPr lang="en-US" sz="1400" dirty="0"/>
          </a:p>
        </p:txBody>
      </p:sp>
      <p:sp>
        <p:nvSpPr>
          <p:cNvPr id="6" name="Dot 3"/>
          <p:cNvSpPr/>
          <p:nvPr/>
        </p:nvSpPr>
        <p:spPr>
          <a:xfrm>
            <a:off x="10332720" y="11430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E</a:t>
            </a:r>
            <a:endParaRPr lang="en-US" sz="2400" dirty="0"/>
          </a:p>
        </p:txBody>
      </p:sp>
      <p:sp>
        <p:nvSpPr>
          <p:cNvPr id="7" name="Dot 4"/>
          <p:cNvSpPr/>
          <p:nvPr/>
        </p:nvSpPr>
        <p:spPr>
          <a:xfrm>
            <a:off x="10332720" y="210312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N</a:t>
            </a:r>
            <a:endParaRPr lang="en-US" sz="2400" dirty="0"/>
          </a:p>
        </p:txBody>
      </p:sp>
      <p:sp>
        <p:nvSpPr>
          <p:cNvPr id="8" name="Dot 5"/>
          <p:cNvSpPr/>
          <p:nvPr/>
        </p:nvSpPr>
        <p:spPr>
          <a:xfrm>
            <a:off x="10332720" y="306324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A</a:t>
            </a:r>
            <a:endParaRPr lang="en-US" sz="2400" dirty="0"/>
          </a:p>
        </p:txBody>
      </p:sp>
      <p:sp>
        <p:nvSpPr>
          <p:cNvPr id="9" name="Dot 6"/>
          <p:cNvSpPr/>
          <p:nvPr/>
        </p:nvSpPr>
        <p:spPr>
          <a:xfrm>
            <a:off x="10332720" y="402336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C</a:t>
            </a:r>
            <a:endParaRPr lang="en-US" sz="2400" dirty="0"/>
          </a:p>
        </p:txBody>
      </p:sp>
      <p:sp>
        <p:nvSpPr>
          <p:cNvPr id="10" name="Dot 7"/>
          <p:cNvSpPr/>
          <p:nvPr/>
        </p:nvSpPr>
        <p:spPr>
          <a:xfrm>
            <a:off x="10332720" y="49834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Why read personality from a CV</a:t>
            </a:r>
            <a:endParaRPr lang="en-US" sz="3600" dirty="0"/>
          </a:p>
        </p:txBody>
      </p:sp>
      <p:sp>
        <p:nvSpPr>
          <p:cNvPr id="3" name="Dot 8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4" name="Text 9"/>
          <p:cNvSpPr txBox="1"/>
          <p:nvPr/>
        </p:nvSpPr>
        <p:spPr>
          <a:xfrm>
            <a:off x="146304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Questionnaires fall short</a:t>
            </a:r>
            <a:endParaRPr lang="en-US" sz="2000" dirty="0"/>
          </a:p>
        </p:txBody>
      </p:sp>
      <p:sp>
        <p:nvSpPr>
          <p:cNvPr id="5" name="Text 10"/>
          <p:cNvSpPr txBox="1"/>
          <p:nvPr/>
        </p:nvSpPr>
        <p:spPr>
          <a:xfrm>
            <a:off x="1463040" y="1965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Recruiters want to know personality, but questionnaires are slow and easy to fake.</a:t>
            </a:r>
            <a:endParaRPr lang="en-US" sz="1600" dirty="0"/>
          </a:p>
        </p:txBody>
      </p:sp>
      <p:sp>
        <p:nvSpPr>
          <p:cNvPr id="6" name="Dot 11"/>
          <p:cNvSpPr/>
          <p:nvPr/>
        </p:nvSpPr>
        <p:spPr>
          <a:xfrm>
            <a:off x="548640" y="3063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7" name="Text 12"/>
          <p:cNvSpPr txBox="1"/>
          <p:nvPr/>
        </p:nvSpPr>
        <p:spPr>
          <a:xfrm>
            <a:off x="1463040" y="3017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paper we follow</a:t>
            </a:r>
            <a:endParaRPr lang="en-US" sz="2000" dirty="0"/>
          </a:p>
        </p:txBody>
      </p:sp>
      <p:sp>
        <p:nvSpPr>
          <p:cNvPr id="8" name="Text 13"/>
          <p:cNvSpPr txBox="1"/>
          <p:nvPr/>
        </p:nvSpPr>
        <p:spPr>
          <a:xfrm>
            <a:off x="1463040" y="3429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Grunenberg et al. (2024) showed ML can estimate the Big Five from CV text and short written answers.</a:t>
            </a:r>
            <a:endParaRPr lang="en-US" sz="1600" dirty="0"/>
          </a:p>
        </p:txBody>
      </p:sp>
      <p:sp>
        <p:nvSpPr>
          <p:cNvPr id="9" name="Dot 14"/>
          <p:cNvSpPr/>
          <p:nvPr/>
        </p:nvSpPr>
        <p:spPr>
          <a:xfrm>
            <a:off x="548640" y="4526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0" name="Text 15"/>
          <p:cNvSpPr txBox="1"/>
          <p:nvPr/>
        </p:nvSpPr>
        <p:spPr>
          <a:xfrm>
            <a:off x="1463040" y="4480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 social-media scraping</a:t>
            </a:r>
            <a:endParaRPr lang="en-US" sz="2000" dirty="0"/>
          </a:p>
        </p:txBody>
      </p:sp>
      <p:sp>
        <p:nvSpPr>
          <p:cNvPr id="11" name="Text 16"/>
          <p:cNvSpPr txBox="1"/>
          <p:nvPr/>
        </p:nvSpPr>
        <p:spPr>
          <a:xfrm>
            <a:off x="1463040" y="4892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Only documents a candidate already hands in are used, avoiding privacy and legal problems.</a:t>
            </a:r>
            <a:endParaRPr lang="en-US" sz="1600" dirty="0"/>
          </a:p>
        </p:txBody>
      </p:sp>
      <p:sp>
        <p:nvSpPr>
          <p:cNvPr id="12" name="Card 17"/>
          <p:cNvSpPr/>
          <p:nvPr/>
        </p:nvSpPr>
        <p:spPr>
          <a:xfrm>
            <a:off x="7315200" y="1554480"/>
            <a:ext cx="4325112" cy="4297680"/>
          </a:xfrm>
          <a:prstGeom prst="roundRect">
            <a:avLst>
              <a:gd name="adj" fmla="val 255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Text 18"/>
          <p:cNvSpPr txBox="1"/>
          <p:nvPr/>
        </p:nvSpPr>
        <p:spPr>
          <a:xfrm>
            <a:off x="7680960" y="192024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Our system</a:t>
            </a:r>
            <a:endParaRPr lang="en-US" sz="1400" dirty="0"/>
          </a:p>
        </p:txBody>
      </p:sp>
      <p:sp>
        <p:nvSpPr>
          <p:cNvPr id="14" name="Text 19"/>
          <p:cNvSpPr txBox="1"/>
          <p:nvPr/>
        </p:nvSpPr>
        <p:spPr>
          <a:xfrm>
            <a:off x="7680960" y="2331720"/>
            <a:ext cx="3593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text in, five trait scores out</a:t>
            </a:r>
            <a:endParaRPr lang="en-US" sz="2800" dirty="0"/>
          </a:p>
        </p:txBody>
      </p:sp>
      <p:sp>
        <p:nvSpPr>
          <p:cNvPr id="15" name="Text 20"/>
          <p:cNvSpPr txBox="1"/>
          <p:nvPr/>
        </p:nvSpPr>
        <p:spPr>
          <a:xfrm>
            <a:off x="7680960" y="3794760"/>
            <a:ext cx="3593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Paste a CV or upload a PDF and get a 0–1 score for each Big Five trait.</a:t>
            </a:r>
            <a:endParaRPr lang="en-US" sz="1600" dirty="0"/>
          </a:p>
        </p:txBody>
      </p:sp>
      <p:sp>
        <p:nvSpPr>
          <p:cNvPr id="16" name="Dot 21"/>
          <p:cNvSpPr/>
          <p:nvPr/>
        </p:nvSpPr>
        <p:spPr>
          <a:xfrm>
            <a:off x="7680960" y="484632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  <p:sp>
        <p:nvSpPr>
          <p:cNvPr id="17" name="Dot 22"/>
          <p:cNvSpPr/>
          <p:nvPr/>
        </p:nvSpPr>
        <p:spPr>
          <a:xfrm>
            <a:off x="8394192" y="484632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N</a:t>
            </a:r>
            <a:endParaRPr lang="en-US" sz="1600" dirty="0"/>
          </a:p>
        </p:txBody>
      </p:sp>
      <p:sp>
        <p:nvSpPr>
          <p:cNvPr id="18" name="Dot 23"/>
          <p:cNvSpPr/>
          <p:nvPr/>
        </p:nvSpPr>
        <p:spPr>
          <a:xfrm>
            <a:off x="9107424" y="484632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19" name="Dot 24"/>
          <p:cNvSpPr/>
          <p:nvPr/>
        </p:nvSpPr>
        <p:spPr>
          <a:xfrm>
            <a:off x="9820656" y="4846320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20" name="Dot 25"/>
          <p:cNvSpPr/>
          <p:nvPr/>
        </p:nvSpPr>
        <p:spPr>
          <a:xfrm>
            <a:off x="10533888" y="4846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The Big Five and our goals</a:t>
            </a:r>
            <a:endParaRPr lang="en-US" sz="3600" dirty="0"/>
          </a:p>
        </p:txBody>
      </p:sp>
      <p:sp>
        <p:nvSpPr>
          <p:cNvPr id="3" name="Card 26"/>
          <p:cNvSpPr/>
          <p:nvPr/>
        </p:nvSpPr>
        <p:spPr>
          <a:xfrm>
            <a:off x="548640" y="1554480"/>
            <a:ext cx="199887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4" name="Dot 27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E</a:t>
            </a:r>
            <a:endParaRPr lang="en-US" sz="1800" dirty="0"/>
          </a:p>
        </p:txBody>
      </p:sp>
      <p:sp>
        <p:nvSpPr>
          <p:cNvPr id="5" name="Text 28"/>
          <p:cNvSpPr txBox="1"/>
          <p:nvPr/>
        </p:nvSpPr>
        <p:spPr>
          <a:xfrm>
            <a:off x="731520" y="2377440"/>
            <a:ext cx="16331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Extraversion</a:t>
            </a:r>
            <a:endParaRPr lang="en-US" sz="1500" dirty="0"/>
          </a:p>
        </p:txBody>
      </p:sp>
      <p:sp>
        <p:nvSpPr>
          <p:cNvPr id="6" name="Text 29"/>
          <p:cNvSpPr txBox="1"/>
          <p:nvPr/>
        </p:nvSpPr>
        <p:spPr>
          <a:xfrm>
            <a:off x="731520" y="2697480"/>
            <a:ext cx="16331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Sociable, energetic, talkative</a:t>
            </a:r>
            <a:endParaRPr lang="en-US" sz="1400" dirty="0"/>
          </a:p>
        </p:txBody>
      </p:sp>
      <p:sp>
        <p:nvSpPr>
          <p:cNvPr id="7" name="Card 30"/>
          <p:cNvSpPr/>
          <p:nvPr/>
        </p:nvSpPr>
        <p:spPr>
          <a:xfrm>
            <a:off x="2821838" y="1554480"/>
            <a:ext cx="199887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Dot 31"/>
          <p:cNvSpPr/>
          <p:nvPr/>
        </p:nvSpPr>
        <p:spPr>
          <a:xfrm>
            <a:off x="3004718" y="17373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N</a:t>
            </a:r>
            <a:endParaRPr lang="en-US" sz="1800" dirty="0"/>
          </a:p>
        </p:txBody>
      </p:sp>
      <p:sp>
        <p:nvSpPr>
          <p:cNvPr id="9" name="Text 32"/>
          <p:cNvSpPr txBox="1"/>
          <p:nvPr/>
        </p:nvSpPr>
        <p:spPr>
          <a:xfrm>
            <a:off x="3004718" y="2377440"/>
            <a:ext cx="16331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Neuroticism</a:t>
            </a:r>
            <a:endParaRPr lang="en-US" sz="1500" dirty="0"/>
          </a:p>
        </p:txBody>
      </p:sp>
      <p:sp>
        <p:nvSpPr>
          <p:cNvPr id="10" name="Text 33"/>
          <p:cNvSpPr txBox="1"/>
          <p:nvPr/>
        </p:nvSpPr>
        <p:spPr>
          <a:xfrm>
            <a:off x="3004718" y="2697480"/>
            <a:ext cx="16331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Prone to anxiety and negative emotion</a:t>
            </a:r>
            <a:endParaRPr lang="en-US" sz="1400" dirty="0"/>
          </a:p>
        </p:txBody>
      </p:sp>
      <p:sp>
        <p:nvSpPr>
          <p:cNvPr id="11" name="Card 34"/>
          <p:cNvSpPr/>
          <p:nvPr/>
        </p:nvSpPr>
        <p:spPr>
          <a:xfrm>
            <a:off x="5095037" y="1554480"/>
            <a:ext cx="199887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2" name="Dot 35"/>
          <p:cNvSpPr/>
          <p:nvPr/>
        </p:nvSpPr>
        <p:spPr>
          <a:xfrm>
            <a:off x="5277917" y="17373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Text 36"/>
          <p:cNvSpPr txBox="1"/>
          <p:nvPr/>
        </p:nvSpPr>
        <p:spPr>
          <a:xfrm>
            <a:off x="5277917" y="2377440"/>
            <a:ext cx="16331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Agreeableness</a:t>
            </a:r>
            <a:endParaRPr lang="en-US" sz="1500" dirty="0"/>
          </a:p>
        </p:txBody>
      </p:sp>
      <p:sp>
        <p:nvSpPr>
          <p:cNvPr id="14" name="Text 37"/>
          <p:cNvSpPr txBox="1"/>
          <p:nvPr/>
        </p:nvSpPr>
        <p:spPr>
          <a:xfrm>
            <a:off x="5277917" y="2697480"/>
            <a:ext cx="16331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Cooperative, warm, trusting</a:t>
            </a:r>
            <a:endParaRPr lang="en-US" sz="1400" dirty="0"/>
          </a:p>
        </p:txBody>
      </p:sp>
      <p:sp>
        <p:nvSpPr>
          <p:cNvPr id="15" name="Card 38"/>
          <p:cNvSpPr/>
          <p:nvPr/>
        </p:nvSpPr>
        <p:spPr>
          <a:xfrm>
            <a:off x="7368235" y="1554480"/>
            <a:ext cx="199887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6" name="Dot 39"/>
          <p:cNvSpPr/>
          <p:nvPr/>
        </p:nvSpPr>
        <p:spPr>
          <a:xfrm>
            <a:off x="7551115" y="17373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7" name="Text 40"/>
          <p:cNvSpPr txBox="1"/>
          <p:nvPr/>
        </p:nvSpPr>
        <p:spPr>
          <a:xfrm>
            <a:off x="7551115" y="2377440"/>
            <a:ext cx="16331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Conscientiousness</a:t>
            </a:r>
            <a:endParaRPr lang="en-US" sz="1500" dirty="0"/>
          </a:p>
        </p:txBody>
      </p:sp>
      <p:sp>
        <p:nvSpPr>
          <p:cNvPr id="18" name="Text 41"/>
          <p:cNvSpPr txBox="1"/>
          <p:nvPr/>
        </p:nvSpPr>
        <p:spPr>
          <a:xfrm>
            <a:off x="7551115" y="2697480"/>
            <a:ext cx="16331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Organised, reliable, goal-driven</a:t>
            </a:r>
            <a:endParaRPr lang="en-US" sz="1400" dirty="0"/>
          </a:p>
        </p:txBody>
      </p:sp>
      <p:sp>
        <p:nvSpPr>
          <p:cNvPr id="19" name="Card 42"/>
          <p:cNvSpPr/>
          <p:nvPr/>
        </p:nvSpPr>
        <p:spPr>
          <a:xfrm>
            <a:off x="9641434" y="1554480"/>
            <a:ext cx="199887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0" name="Dot 43"/>
          <p:cNvSpPr/>
          <p:nvPr/>
        </p:nvSpPr>
        <p:spPr>
          <a:xfrm>
            <a:off x="9824314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O</a:t>
            </a:r>
            <a:endParaRPr lang="en-US" sz="1800" dirty="0"/>
          </a:p>
        </p:txBody>
      </p:sp>
      <p:sp>
        <p:nvSpPr>
          <p:cNvPr id="21" name="Text 44"/>
          <p:cNvSpPr txBox="1"/>
          <p:nvPr/>
        </p:nvSpPr>
        <p:spPr>
          <a:xfrm>
            <a:off x="9824314" y="2377440"/>
            <a:ext cx="16331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Openness</a:t>
            </a:r>
            <a:endParaRPr lang="en-US" sz="1500" dirty="0"/>
          </a:p>
        </p:txBody>
      </p:sp>
      <p:sp>
        <p:nvSpPr>
          <p:cNvPr id="22" name="Text 45"/>
          <p:cNvSpPr txBox="1"/>
          <p:nvPr/>
        </p:nvSpPr>
        <p:spPr>
          <a:xfrm>
            <a:off x="9824314" y="2697480"/>
            <a:ext cx="16331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Curious, creative, open to new ideas</a:t>
            </a:r>
            <a:endParaRPr lang="en-US" sz="1400" dirty="0"/>
          </a:p>
        </p:txBody>
      </p:sp>
      <p:sp>
        <p:nvSpPr>
          <p:cNvPr id="23" name="Text 46"/>
          <p:cNvSpPr txBox="1"/>
          <p:nvPr/>
        </p:nvSpPr>
        <p:spPr>
          <a:xfrm>
            <a:off x="548640" y="3520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Each trait is a binary high / low label, so each is its own classifier; the predicted probability is the 0–1 trait score.</a:t>
            </a:r>
            <a:endParaRPr lang="en-US" sz="1400" dirty="0"/>
          </a:p>
        </p:txBody>
      </p:sp>
      <p:sp>
        <p:nvSpPr>
          <p:cNvPr id="24" name="Dot 47"/>
          <p:cNvSpPr/>
          <p:nvPr/>
        </p:nvSpPr>
        <p:spPr>
          <a:xfrm>
            <a:off x="548640" y="4160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25" name="Text 48"/>
          <p:cNvSpPr txBox="1"/>
          <p:nvPr/>
        </p:nvSpPr>
        <p:spPr>
          <a:xfrm>
            <a:off x="1280160" y="4160520"/>
            <a:ext cx="183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Goal 1</a:t>
            </a:r>
            <a:endParaRPr lang="en-US" sz="1600" dirty="0"/>
          </a:p>
        </p:txBody>
      </p:sp>
      <p:sp>
        <p:nvSpPr>
          <p:cNvPr id="26" name="Text 49"/>
          <p:cNvSpPr txBox="1"/>
          <p:nvPr/>
        </p:nvSpPr>
        <p:spPr>
          <a:xfrm>
            <a:off x="548640" y="4892040"/>
            <a:ext cx="2475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Re-implement the paper's text-based approach as a baseline</a:t>
            </a:r>
            <a:endParaRPr lang="en-US" sz="1600" dirty="0"/>
          </a:p>
        </p:txBody>
      </p:sp>
      <p:sp>
        <p:nvSpPr>
          <p:cNvPr id="27" name="Dot 50"/>
          <p:cNvSpPr/>
          <p:nvPr/>
        </p:nvSpPr>
        <p:spPr>
          <a:xfrm>
            <a:off x="3390138" y="4160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8" name="Text 51"/>
          <p:cNvSpPr txBox="1"/>
          <p:nvPr/>
        </p:nvSpPr>
        <p:spPr>
          <a:xfrm>
            <a:off x="4121658" y="4160520"/>
            <a:ext cx="183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Goal 2</a:t>
            </a:r>
            <a:endParaRPr lang="en-US" sz="1600" dirty="0"/>
          </a:p>
        </p:txBody>
      </p:sp>
      <p:sp>
        <p:nvSpPr>
          <p:cNvPr id="29" name="Text 52"/>
          <p:cNvSpPr txBox="1"/>
          <p:nvPr/>
        </p:nvSpPr>
        <p:spPr>
          <a:xfrm>
            <a:off x="3390138" y="4892040"/>
            <a:ext cx="2475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Improve it with sentence embeddings, gradient boosting and SHAP</a:t>
            </a:r>
            <a:endParaRPr lang="en-US" sz="1600" dirty="0"/>
          </a:p>
        </p:txBody>
      </p:sp>
      <p:sp>
        <p:nvSpPr>
          <p:cNvPr id="30" name="Dot 53"/>
          <p:cNvSpPr/>
          <p:nvPr/>
        </p:nvSpPr>
        <p:spPr>
          <a:xfrm>
            <a:off x="6231636" y="4160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Text 54"/>
          <p:cNvSpPr txBox="1"/>
          <p:nvPr/>
        </p:nvSpPr>
        <p:spPr>
          <a:xfrm>
            <a:off x="6963156" y="4160520"/>
            <a:ext cx="183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Goal 3</a:t>
            </a:r>
            <a:endParaRPr lang="en-US" sz="1600" dirty="0"/>
          </a:p>
        </p:txBody>
      </p:sp>
      <p:sp>
        <p:nvSpPr>
          <p:cNvPr id="32" name="Text 55"/>
          <p:cNvSpPr txBox="1"/>
          <p:nvPr/>
        </p:nvSpPr>
        <p:spPr>
          <a:xfrm>
            <a:off x="6231636" y="4892040"/>
            <a:ext cx="2475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Check that resume predictions vary sensibly with job category</a:t>
            </a:r>
            <a:endParaRPr lang="en-US" sz="1600" dirty="0"/>
          </a:p>
        </p:txBody>
      </p:sp>
      <p:sp>
        <p:nvSpPr>
          <p:cNvPr id="33" name="Dot 56"/>
          <p:cNvSpPr/>
          <p:nvPr/>
        </p:nvSpPr>
        <p:spPr>
          <a:xfrm>
            <a:off x="9073134" y="4160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34" name="Text 57"/>
          <p:cNvSpPr txBox="1"/>
          <p:nvPr/>
        </p:nvSpPr>
        <p:spPr>
          <a:xfrm>
            <a:off x="9804654" y="4160520"/>
            <a:ext cx="183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Goal 4</a:t>
            </a:r>
            <a:endParaRPr lang="en-US" sz="1600" dirty="0"/>
          </a:p>
        </p:txBody>
      </p:sp>
      <p:sp>
        <p:nvSpPr>
          <p:cNvPr id="35" name="Text 58"/>
          <p:cNvSpPr txBox="1"/>
          <p:nvPr/>
        </p:nvSpPr>
        <p:spPr>
          <a:xfrm>
            <a:off x="9073134" y="4892040"/>
            <a:ext cx="2475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Deploy the models in a usable web application</a:t>
            </a:r>
            <a:endParaRPr lang="en-US" sz="16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Two datasets, two roles</a:t>
            </a:r>
            <a:endParaRPr lang="en-US" sz="3600" dirty="0"/>
          </a:p>
        </p:txBody>
      </p:sp>
      <p:sp>
        <p:nvSpPr>
          <p:cNvPr id="3" name="Text 59"/>
          <p:cNvSpPr txBox="1"/>
          <p:nvPr/>
        </p:nvSpPr>
        <p:spPr>
          <a:xfrm>
            <a:off x="548640" y="1554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Problem: </a:t>
            </a:r>
            <a:r>
              <a:rPr lang="en-US" sz="1600" dirty="0">
                <a:solidFill>
                  <a:schemeClr val="tx1"/>
                </a:solidFill>
              </a:rPr>
              <a:t>the Kaggle resumes have no personality labels, only text and a job category, so we train on a labeled essay corpus and transfer the models.</a:t>
            </a:r>
            <a:endParaRPr lang="en-US" sz="1600" dirty="0"/>
          </a:p>
        </p:txBody>
      </p:sp>
      <p:sp>
        <p:nvSpPr>
          <p:cNvPr id="4" name="Card 60"/>
          <p:cNvSpPr/>
          <p:nvPr/>
        </p:nvSpPr>
        <p:spPr>
          <a:xfrm>
            <a:off x="548640" y="2377440"/>
            <a:ext cx="493776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5" name="Text 61"/>
          <p:cNvSpPr txBox="1"/>
          <p:nvPr/>
        </p:nvSpPr>
        <p:spPr>
          <a:xfrm>
            <a:off x="868680" y="2606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Essays (Pennebaker &amp; King)</a:t>
            </a:r>
            <a:endParaRPr lang="en-US" sz="2000" dirty="0"/>
          </a:p>
        </p:txBody>
      </p:sp>
      <p:sp>
        <p:nvSpPr>
          <p:cNvPr id="6" name="Text 62"/>
          <p:cNvSpPr txBox="1"/>
          <p:nvPr/>
        </p:nvSpPr>
        <p:spPr>
          <a:xfrm>
            <a:off x="868680" y="29900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Train and cross-validate</a:t>
            </a:r>
            <a:endParaRPr lang="en-US" sz="1400" dirty="0"/>
          </a:p>
        </p:txBody>
      </p:sp>
      <p:sp>
        <p:nvSpPr>
          <p:cNvPr id="7" name="Text 63"/>
          <p:cNvSpPr txBox="1"/>
          <p:nvPr/>
        </p:nvSpPr>
        <p:spPr>
          <a:xfrm>
            <a:off x="86868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2,467</a:t>
            </a:r>
            <a:endParaRPr lang="en-US" sz="6000" dirty="0"/>
          </a:p>
        </p:txBody>
      </p:sp>
      <p:sp>
        <p:nvSpPr>
          <p:cNvPr id="8" name="Text 64"/>
          <p:cNvSpPr txBox="1"/>
          <p:nvPr/>
        </p:nvSpPr>
        <p:spPr>
          <a:xfrm>
            <a:off x="329184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essays</a:t>
            </a:r>
            <a:endParaRPr lang="en-US" sz="1600" dirty="0"/>
          </a:p>
        </p:txBody>
      </p:sp>
      <p:sp>
        <p:nvSpPr>
          <p:cNvPr id="9" name="Text 65"/>
          <p:cNvSpPr txBox="1"/>
          <p:nvPr/>
        </p:nvSpPr>
        <p:spPr>
          <a:xfrm>
            <a:off x="868680" y="45720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Mean length 652 words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Binary Big Five label (y/n) per trait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trait about 50% positive</a:t>
            </a:r>
            <a:endParaRPr lang="en-US" sz="1500" dirty="0"/>
          </a:p>
        </p:txBody>
      </p:sp>
      <p:sp>
        <p:nvSpPr>
          <p:cNvPr id="10" name="Card 66"/>
          <p:cNvSpPr/>
          <p:nvPr/>
        </p:nvSpPr>
        <p:spPr>
          <a:xfrm>
            <a:off x="6702552" y="2377440"/>
            <a:ext cx="493776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Text 67"/>
          <p:cNvSpPr txBox="1"/>
          <p:nvPr/>
        </p:nvSpPr>
        <p:spPr>
          <a:xfrm>
            <a:off x="7022592" y="2606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Kaggle Resume Dataset</a:t>
            </a:r>
            <a:endParaRPr lang="en-US" sz="2000" dirty="0"/>
          </a:p>
        </p:txBody>
      </p:sp>
      <p:sp>
        <p:nvSpPr>
          <p:cNvPr id="12" name="Text 68"/>
          <p:cNvSpPr txBox="1"/>
          <p:nvPr/>
        </p:nvSpPr>
        <p:spPr>
          <a:xfrm>
            <a:off x="7022592" y="29900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Apply model + criterion validity</a:t>
            </a:r>
            <a:endParaRPr lang="en-US" sz="1400" dirty="0"/>
          </a:p>
        </p:txBody>
      </p:sp>
      <p:sp>
        <p:nvSpPr>
          <p:cNvPr id="13" name="Text 69"/>
          <p:cNvSpPr txBox="1"/>
          <p:nvPr/>
        </p:nvSpPr>
        <p:spPr>
          <a:xfrm>
            <a:off x="7022592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2,484</a:t>
            </a:r>
            <a:endParaRPr lang="en-US" sz="6000" dirty="0"/>
          </a:p>
        </p:txBody>
      </p:sp>
      <p:sp>
        <p:nvSpPr>
          <p:cNvPr id="14" name="Text 70"/>
          <p:cNvSpPr txBox="1"/>
          <p:nvPr/>
        </p:nvSpPr>
        <p:spPr>
          <a:xfrm>
            <a:off x="9445752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resumes</a:t>
            </a:r>
            <a:endParaRPr lang="en-US" sz="1600" dirty="0"/>
          </a:p>
        </p:txBody>
      </p:sp>
      <p:sp>
        <p:nvSpPr>
          <p:cNvPr id="15" name="Text 71"/>
          <p:cNvSpPr txBox="1"/>
          <p:nvPr/>
        </p:nvSpPr>
        <p:spPr>
          <a:xfrm>
            <a:off x="7022592" y="45720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Mean length 811 words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24 job categories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Label: job category only</a:t>
            </a:r>
            <a:endParaRPr lang="en-US" sz="1500" dirty="0"/>
          </a:p>
        </p:txBody>
      </p:sp>
      <p:sp>
        <p:nvSpPr>
          <p:cNvPr id="16" name="Transfer arrow"/>
          <p:cNvSpPr/>
          <p:nvPr/>
        </p:nvSpPr>
        <p:spPr>
          <a:xfrm>
            <a:off x="5669280" y="3840480"/>
            <a:ext cx="850392" cy="548640"/>
          </a:xfrm>
          <a:prstGeom prst="rightArrow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7" name="Text 72"/>
          <p:cNvSpPr txBox="1"/>
          <p:nvPr/>
        </p:nvSpPr>
        <p:spPr>
          <a:xfrm>
            <a:off x="5486400" y="448056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transfer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Light, shared data preparation</a:t>
            </a:r>
            <a:endParaRPr lang="en-US" sz="3600" dirty="0"/>
          </a:p>
        </p:txBody>
      </p:sp>
      <p:sp>
        <p:nvSpPr>
          <p:cNvPr id="3" name="Text 73"/>
          <p:cNvSpPr txBox="1"/>
          <p:nvPr/>
        </p:nvSpPr>
        <p:spPr>
          <a:xfrm>
            <a:off x="548640" y="1554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Essays are free-flowing personal writing; resumes are formal lists of jobs and skills. To help transfer, cleaning stays light and identical for both corpora.</a:t>
            </a:r>
            <a:endParaRPr lang="en-US" sz="1600" dirty="0"/>
          </a:p>
        </p:txBody>
      </p:sp>
      <p:sp>
        <p:nvSpPr>
          <p:cNvPr id="4" name="Card 74"/>
          <p:cNvSpPr/>
          <p:nvPr/>
        </p:nvSpPr>
        <p:spPr>
          <a:xfrm>
            <a:off x="548640" y="2606040"/>
            <a:ext cx="1998878" cy="329184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5" name="Dot 75"/>
          <p:cNvSpPr/>
          <p:nvPr/>
        </p:nvSpPr>
        <p:spPr>
          <a:xfrm>
            <a:off x="777240" y="2834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76"/>
          <p:cNvSpPr txBox="1"/>
          <p:nvPr/>
        </p:nvSpPr>
        <p:spPr>
          <a:xfrm>
            <a:off x="777240" y="3703320"/>
            <a:ext cx="1541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Label encoding</a:t>
            </a:r>
            <a:endParaRPr lang="en-US" sz="1600" dirty="0"/>
          </a:p>
        </p:txBody>
      </p:sp>
      <p:sp>
        <p:nvSpPr>
          <p:cNvPr id="7" name="Text 77"/>
          <p:cNvSpPr txBox="1"/>
          <p:nvPr/>
        </p:nvSpPr>
        <p:spPr>
          <a:xfrm>
            <a:off x="777240" y="4114800"/>
            <a:ext cx="15416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Map y/n to 1/0; drop rows missing a label or text</a:t>
            </a:r>
            <a:endParaRPr lang="en-US" sz="1400" dirty="0"/>
          </a:p>
        </p:txBody>
      </p:sp>
      <p:sp>
        <p:nvSpPr>
          <p:cNvPr id="8" name="Card 78"/>
          <p:cNvSpPr/>
          <p:nvPr/>
        </p:nvSpPr>
        <p:spPr>
          <a:xfrm>
            <a:off x="2821838" y="2606040"/>
            <a:ext cx="1998878" cy="329184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Dot 79"/>
          <p:cNvSpPr/>
          <p:nvPr/>
        </p:nvSpPr>
        <p:spPr>
          <a:xfrm>
            <a:off x="3050438" y="2834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0"/>
          <p:cNvSpPr txBox="1"/>
          <p:nvPr/>
        </p:nvSpPr>
        <p:spPr>
          <a:xfrm>
            <a:off x="3050438" y="3703320"/>
            <a:ext cx="1541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Text cleaning</a:t>
            </a:r>
            <a:endParaRPr lang="en-US" sz="1600" dirty="0"/>
          </a:p>
        </p:txBody>
      </p:sp>
      <p:sp>
        <p:nvSpPr>
          <p:cNvPr id="11" name="Text 81"/>
          <p:cNvSpPr txBox="1"/>
          <p:nvPr/>
        </p:nvSpPr>
        <p:spPr>
          <a:xfrm>
            <a:off x="3050438" y="4114800"/>
            <a:ext cx="15416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Collapse newlines and repeated spaces; keep punctuation</a:t>
            </a:r>
            <a:endParaRPr lang="en-US" sz="1400" dirty="0"/>
          </a:p>
        </p:txBody>
      </p:sp>
      <p:sp>
        <p:nvSpPr>
          <p:cNvPr id="12" name="Card 82"/>
          <p:cNvSpPr/>
          <p:nvPr/>
        </p:nvSpPr>
        <p:spPr>
          <a:xfrm>
            <a:off x="5095037" y="2606040"/>
            <a:ext cx="1998878" cy="329184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Dot 83"/>
          <p:cNvSpPr/>
          <p:nvPr/>
        </p:nvSpPr>
        <p:spPr>
          <a:xfrm>
            <a:off x="5323637" y="2834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84"/>
          <p:cNvSpPr txBox="1"/>
          <p:nvPr/>
        </p:nvSpPr>
        <p:spPr>
          <a:xfrm>
            <a:off x="5323637" y="3703320"/>
            <a:ext cx="1541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PDF extraction</a:t>
            </a:r>
            <a:endParaRPr lang="en-US" sz="1600" dirty="0"/>
          </a:p>
        </p:txBody>
      </p:sp>
      <p:sp>
        <p:nvSpPr>
          <p:cNvPr id="15" name="Text 85"/>
          <p:cNvSpPr txBox="1"/>
          <p:nvPr/>
        </p:nvSpPr>
        <p:spPr>
          <a:xfrm>
            <a:off x="5323637" y="4114800"/>
            <a:ext cx="15416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Page-by-page text with pdfplumber, as in the paper</a:t>
            </a:r>
            <a:endParaRPr lang="en-US" sz="1400" dirty="0"/>
          </a:p>
        </p:txBody>
      </p:sp>
      <p:sp>
        <p:nvSpPr>
          <p:cNvPr id="16" name="Card 86"/>
          <p:cNvSpPr/>
          <p:nvPr/>
        </p:nvSpPr>
        <p:spPr>
          <a:xfrm>
            <a:off x="7368235" y="2606040"/>
            <a:ext cx="1998878" cy="329184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7" name="Dot 87"/>
          <p:cNvSpPr/>
          <p:nvPr/>
        </p:nvSpPr>
        <p:spPr>
          <a:xfrm>
            <a:off x="7596835" y="2834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88"/>
          <p:cNvSpPr txBox="1"/>
          <p:nvPr/>
        </p:nvSpPr>
        <p:spPr>
          <a:xfrm>
            <a:off x="7596835" y="3703320"/>
            <a:ext cx="1541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Minimum length</a:t>
            </a:r>
            <a:endParaRPr lang="en-US" sz="1600" dirty="0"/>
          </a:p>
        </p:txBody>
      </p:sp>
      <p:sp>
        <p:nvSpPr>
          <p:cNvPr id="19" name="Text 89"/>
          <p:cNvSpPr txBox="1"/>
          <p:nvPr/>
        </p:nvSpPr>
        <p:spPr>
          <a:xfrm>
            <a:off x="7596835" y="4114800"/>
            <a:ext cx="15416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Reject inputs under 20 words as unreliable</a:t>
            </a:r>
            <a:endParaRPr lang="en-US" sz="1400" dirty="0"/>
          </a:p>
        </p:txBody>
      </p:sp>
      <p:sp>
        <p:nvSpPr>
          <p:cNvPr id="20" name="Card 90"/>
          <p:cNvSpPr/>
          <p:nvPr/>
        </p:nvSpPr>
        <p:spPr>
          <a:xfrm>
            <a:off x="9641434" y="2606040"/>
            <a:ext cx="1998878" cy="3291840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1" name="Dot 91"/>
          <p:cNvSpPr/>
          <p:nvPr/>
        </p:nvSpPr>
        <p:spPr>
          <a:xfrm>
            <a:off x="9870034" y="2834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Text 92"/>
          <p:cNvSpPr txBox="1"/>
          <p:nvPr/>
        </p:nvSpPr>
        <p:spPr>
          <a:xfrm>
            <a:off x="9870034" y="3703320"/>
            <a:ext cx="1541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Evaluation split</a:t>
            </a:r>
            <a:endParaRPr lang="en-US" sz="1600" dirty="0"/>
          </a:p>
        </p:txBody>
      </p:sp>
      <p:sp>
        <p:nvSpPr>
          <p:cNvPr id="23" name="Text 93"/>
          <p:cNvSpPr txBox="1"/>
          <p:nvPr/>
        </p:nvSpPr>
        <p:spPr>
          <a:xfrm>
            <a:off x="9870034" y="4114800"/>
            <a:ext cx="15416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Stratified 5-fold CV, shuffled, seed 42, out-of-fold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Two pipelines, five classifiers each</a:t>
            </a:r>
            <a:endParaRPr lang="en-US" sz="3600" dirty="0"/>
          </a:p>
        </p:txBody>
      </p:sp>
      <p:sp>
        <p:nvSpPr>
          <p:cNvPr id="3" name="Card 94"/>
          <p:cNvSpPr/>
          <p:nvPr/>
        </p:nvSpPr>
        <p:spPr>
          <a:xfrm>
            <a:off x="548640" y="1554480"/>
            <a:ext cx="5362956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4" name="Text 95"/>
          <p:cNvSpPr txBox="1"/>
          <p:nvPr/>
        </p:nvSpPr>
        <p:spPr>
          <a:xfrm>
            <a:off x="868680" y="1737360"/>
            <a:ext cx="47228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Baseline</a:t>
            </a:r>
            <a:endParaRPr lang="en-US" sz="2200" dirty="0"/>
          </a:p>
        </p:txBody>
      </p:sp>
      <p:sp>
        <p:nvSpPr>
          <p:cNvPr id="5" name="Text 96"/>
          <p:cNvSpPr txBox="1"/>
          <p:nvPr/>
        </p:nvSpPr>
        <p:spPr>
          <a:xfrm>
            <a:off x="868680" y="2148840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Mirrors the paper's word-frequency features</a:t>
            </a:r>
            <a:endParaRPr lang="en-US" sz="1400" dirty="0"/>
          </a:p>
        </p:txBody>
      </p:sp>
      <p:sp>
        <p:nvSpPr>
          <p:cNvPr id="6" name="Dot 97"/>
          <p:cNvSpPr/>
          <p:nvPr/>
        </p:nvSpPr>
        <p:spPr>
          <a:xfrm>
            <a:off x="868680" y="265176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98"/>
          <p:cNvSpPr txBox="1"/>
          <p:nvPr/>
        </p:nvSpPr>
        <p:spPr>
          <a:xfrm>
            <a:off x="1554480" y="2624328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TF-IDF</a:t>
            </a:r>
            <a:endParaRPr lang="en-US" sz="1600" dirty="0"/>
          </a:p>
        </p:txBody>
      </p:sp>
      <p:sp>
        <p:nvSpPr>
          <p:cNvPr id="8" name="Text 99"/>
          <p:cNvSpPr txBox="1"/>
          <p:nvPr/>
        </p:nvSpPr>
        <p:spPr>
          <a:xfrm>
            <a:off x="1554480" y="2916936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1–2-grams, max 5,000 terms, stop words removed</a:t>
            </a:r>
            <a:endParaRPr lang="en-US" sz="1400" dirty="0"/>
          </a:p>
        </p:txBody>
      </p:sp>
      <p:sp>
        <p:nvSpPr>
          <p:cNvPr id="9" name="Dot 100"/>
          <p:cNvSpPr/>
          <p:nvPr/>
        </p:nvSpPr>
        <p:spPr>
          <a:xfrm>
            <a:off x="868680" y="3401568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101"/>
          <p:cNvSpPr txBox="1"/>
          <p:nvPr/>
        </p:nvSpPr>
        <p:spPr>
          <a:xfrm>
            <a:off x="1554480" y="3374136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TruncatedSVD</a:t>
            </a:r>
            <a:endParaRPr lang="en-US" sz="1600" dirty="0"/>
          </a:p>
        </p:txBody>
      </p:sp>
      <p:sp>
        <p:nvSpPr>
          <p:cNvPr id="11" name="Text 102"/>
          <p:cNvSpPr txBox="1"/>
          <p:nvPr/>
        </p:nvSpPr>
        <p:spPr>
          <a:xfrm>
            <a:off x="1554480" y="3666744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Compressed to 100 dense latent topics</a:t>
            </a:r>
            <a:endParaRPr lang="en-US" sz="1400" dirty="0"/>
          </a:p>
        </p:txBody>
      </p:sp>
      <p:sp>
        <p:nvSpPr>
          <p:cNvPr id="12" name="Dot 103"/>
          <p:cNvSpPr/>
          <p:nvPr/>
        </p:nvSpPr>
        <p:spPr>
          <a:xfrm>
            <a:off x="868680" y="4151376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4"/>
          <p:cNvSpPr txBox="1"/>
          <p:nvPr/>
        </p:nvSpPr>
        <p:spPr>
          <a:xfrm>
            <a:off x="1554480" y="4123944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14" name="Text 105"/>
          <p:cNvSpPr txBox="1"/>
          <p:nvPr/>
        </p:nvSpPr>
        <p:spPr>
          <a:xfrm>
            <a:off x="1554480" y="4416552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300 trees, one model per trait</a:t>
            </a:r>
            <a:endParaRPr lang="en-US" sz="1400" dirty="0"/>
          </a:p>
        </p:txBody>
      </p:sp>
      <p:sp>
        <p:nvSpPr>
          <p:cNvPr id="15" name="Card 106"/>
          <p:cNvSpPr/>
          <p:nvPr/>
        </p:nvSpPr>
        <p:spPr>
          <a:xfrm>
            <a:off x="6277356" y="1554480"/>
            <a:ext cx="5362956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6" name="Text 107"/>
          <p:cNvSpPr txBox="1"/>
          <p:nvPr/>
        </p:nvSpPr>
        <p:spPr>
          <a:xfrm>
            <a:off x="6597396" y="1737360"/>
            <a:ext cx="47228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Improved</a:t>
            </a:r>
            <a:endParaRPr lang="en-US" sz="2200" dirty="0"/>
          </a:p>
        </p:txBody>
      </p:sp>
      <p:sp>
        <p:nvSpPr>
          <p:cNvPr id="17" name="Text 108"/>
          <p:cNvSpPr txBox="1"/>
          <p:nvPr/>
        </p:nvSpPr>
        <p:spPr>
          <a:xfrm>
            <a:off x="6597396" y="2148840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Adds what the paper lists as future work</a:t>
            </a:r>
            <a:endParaRPr lang="en-US" sz="1400" dirty="0"/>
          </a:p>
        </p:txBody>
      </p:sp>
      <p:sp>
        <p:nvSpPr>
          <p:cNvPr id="18" name="Dot 109"/>
          <p:cNvSpPr/>
          <p:nvPr/>
        </p:nvSpPr>
        <p:spPr>
          <a:xfrm>
            <a:off x="6597396" y="2651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9" name="Text 110"/>
          <p:cNvSpPr txBox="1"/>
          <p:nvPr/>
        </p:nvSpPr>
        <p:spPr>
          <a:xfrm>
            <a:off x="7283196" y="2624328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Sentence-BERT</a:t>
            </a:r>
            <a:endParaRPr lang="en-US" sz="1600" dirty="0"/>
          </a:p>
        </p:txBody>
      </p:sp>
      <p:sp>
        <p:nvSpPr>
          <p:cNvPr id="20" name="Text 111"/>
          <p:cNvSpPr txBox="1"/>
          <p:nvPr/>
        </p:nvSpPr>
        <p:spPr>
          <a:xfrm>
            <a:off x="7283196" y="2916936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all-MiniLM-L6-v2, 384-dim contextual embedding</a:t>
            </a:r>
            <a:endParaRPr lang="en-US" sz="1400" dirty="0"/>
          </a:p>
        </p:txBody>
      </p:sp>
      <p:sp>
        <p:nvSpPr>
          <p:cNvPr id="21" name="Dot 112"/>
          <p:cNvSpPr/>
          <p:nvPr/>
        </p:nvSpPr>
        <p:spPr>
          <a:xfrm>
            <a:off x="6597396" y="34015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113"/>
          <p:cNvSpPr txBox="1"/>
          <p:nvPr/>
        </p:nvSpPr>
        <p:spPr>
          <a:xfrm>
            <a:off x="7283196" y="3374136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XGBoost</a:t>
            </a:r>
            <a:endParaRPr lang="en-US" sz="1600" dirty="0"/>
          </a:p>
        </p:txBody>
      </p:sp>
      <p:sp>
        <p:nvSpPr>
          <p:cNvPr id="23" name="Text 114"/>
          <p:cNvSpPr txBox="1"/>
          <p:nvPr/>
        </p:nvSpPr>
        <p:spPr>
          <a:xfrm>
            <a:off x="7283196" y="3666744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300 trees, depth 4, learning rate 0.05</a:t>
            </a:r>
            <a:endParaRPr lang="en-US" sz="1400" dirty="0"/>
          </a:p>
        </p:txBody>
      </p:sp>
      <p:sp>
        <p:nvSpPr>
          <p:cNvPr id="24" name="Dot 115"/>
          <p:cNvSpPr/>
          <p:nvPr/>
        </p:nvSpPr>
        <p:spPr>
          <a:xfrm>
            <a:off x="6597396" y="415137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Text 116"/>
          <p:cNvSpPr txBox="1"/>
          <p:nvPr/>
        </p:nvSpPr>
        <p:spPr>
          <a:xfrm>
            <a:off x="7283196" y="4123944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SHAP</a:t>
            </a:r>
            <a:endParaRPr lang="en-US" sz="1600" dirty="0"/>
          </a:p>
        </p:txBody>
      </p:sp>
      <p:sp>
        <p:nvSpPr>
          <p:cNvPr id="26" name="Text 117"/>
          <p:cNvSpPr txBox="1"/>
          <p:nvPr/>
        </p:nvSpPr>
        <p:spPr>
          <a:xfrm>
            <a:off x="7283196" y="4416552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TreeExplainer, top 10 dimensions per trait</a:t>
            </a:r>
            <a:endParaRPr lang="en-US" sz="1400" dirty="0"/>
          </a:p>
        </p:txBody>
      </p:sp>
      <p:sp>
        <p:nvSpPr>
          <p:cNvPr id="27" name="Card 118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8" name="Text 119"/>
          <p:cNvSpPr txBox="1"/>
          <p:nvPr/>
        </p:nvSpPr>
        <p:spPr>
          <a:xfrm>
            <a:off x="868680" y="525780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Both: stratified 5-fold out-of-fold predictions, scored by Pearson r between predicted probability and self-reported label; then refit on all 2,467 essays.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Essays: weak signal, Openness leads</a:t>
            </a:r>
            <a:endParaRPr lang="en-US" sz="3600" dirty="0"/>
          </a:p>
        </p:txBody>
      </p:sp>
      <p:sp>
        <p:nvSpPr>
          <p:cNvPr id="3" name="Card 120"/>
          <p:cNvSpPr/>
          <p:nvPr/>
        </p:nvSpPr>
        <p:spPr>
          <a:xfrm>
            <a:off x="548640" y="1554480"/>
            <a:ext cx="3514344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4" name="Text 121"/>
          <p:cNvSpPr txBox="1"/>
          <p:nvPr/>
        </p:nvSpPr>
        <p:spPr>
          <a:xfrm>
            <a:off x="822960" y="17373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0.124</a:t>
            </a:r>
            <a:endParaRPr lang="en-US" sz="5400" dirty="0"/>
          </a:p>
        </p:txBody>
      </p:sp>
      <p:sp>
        <p:nvSpPr>
          <p:cNvPr id="5" name="Text 122"/>
          <p:cNvSpPr txBox="1"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Average r, both models</a:t>
            </a:r>
            <a:endParaRPr lang="en-US" sz="1800" dirty="0"/>
          </a:p>
        </p:txBody>
      </p:sp>
      <p:sp>
        <p:nvSpPr>
          <p:cNvPr id="6" name="Text 123"/>
          <p:cNvSpPr txBox="1"/>
          <p:nvPr/>
        </p:nvSpPr>
        <p:spPr>
          <a:xfrm>
            <a:off x="822960" y="324612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Baseline and improved tie on the 5-fold out-of-fold average</a:t>
            </a:r>
            <a:endParaRPr lang="en-US" sz="1400" dirty="0"/>
          </a:p>
        </p:txBody>
      </p:sp>
      <p:sp>
        <p:nvSpPr>
          <p:cNvPr id="7" name="Card 124"/>
          <p:cNvSpPr/>
          <p:nvPr/>
        </p:nvSpPr>
        <p:spPr>
          <a:xfrm>
            <a:off x="4337304" y="1554480"/>
            <a:ext cx="3514344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Text 125"/>
          <p:cNvSpPr txBox="1"/>
          <p:nvPr/>
        </p:nvSpPr>
        <p:spPr>
          <a:xfrm>
            <a:off x="4611624" y="17373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0.24</a:t>
            </a:r>
            <a:endParaRPr lang="en-US" sz="5400" dirty="0"/>
          </a:p>
        </p:txBody>
      </p:sp>
      <p:sp>
        <p:nvSpPr>
          <p:cNvPr id="9" name="Text 126"/>
          <p:cNvSpPr txBox="1"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Openness</a:t>
            </a:r>
            <a:endParaRPr lang="en-US" sz="1800" dirty="0"/>
          </a:p>
        </p:txBody>
      </p:sp>
      <p:sp>
        <p:nvSpPr>
          <p:cNvPr id="10" name="Text 127"/>
          <p:cNvSpPr txBox="1"/>
          <p:nvPr/>
        </p:nvSpPr>
        <p:spPr>
          <a:xfrm>
            <a:off x="4611624" y="324612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Clearly the most predictable trait (r ≈ 0.23–0.25)</a:t>
            </a:r>
            <a:endParaRPr lang="en-US" sz="1400" dirty="0"/>
          </a:p>
        </p:txBody>
      </p:sp>
      <p:sp>
        <p:nvSpPr>
          <p:cNvPr id="11" name="Card 128"/>
          <p:cNvSpPr/>
          <p:nvPr/>
        </p:nvSpPr>
        <p:spPr>
          <a:xfrm>
            <a:off x="8125968" y="1554480"/>
            <a:ext cx="3514344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2" name="Text 129"/>
          <p:cNvSpPr txBox="1"/>
          <p:nvPr/>
        </p:nvSpPr>
        <p:spPr>
          <a:xfrm>
            <a:off x="8400288" y="17373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0.07–0.11</a:t>
            </a:r>
            <a:endParaRPr lang="en-US" sz="5400" dirty="0"/>
          </a:p>
        </p:txBody>
      </p:sp>
      <p:sp>
        <p:nvSpPr>
          <p:cNvPr id="13" name="Text 130"/>
          <p:cNvSpPr txBox="1"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Other four traits</a:t>
            </a:r>
            <a:endParaRPr lang="en-US" sz="1800" dirty="0"/>
          </a:p>
        </p:txBody>
      </p:sp>
      <p:sp>
        <p:nvSpPr>
          <p:cNvPr id="14" name="Text 131"/>
          <p:cNvSpPr txBox="1"/>
          <p:nvPr/>
        </p:nvSpPr>
        <p:spPr>
          <a:xfrm>
            <a:off x="8400288" y="324612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Only slightly better than chance</a:t>
            </a:r>
            <a:endParaRPr lang="en-US" sz="1400" dirty="0"/>
          </a:p>
        </p:txBody>
      </p:sp>
      <p:sp>
        <p:nvSpPr>
          <p:cNvPr id="15" name="Dot 132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±</a:t>
            </a:r>
            <a:endParaRPr lang="en-US" sz="2000" dirty="0"/>
          </a:p>
        </p:txBody>
      </p:sp>
      <p:sp>
        <p:nvSpPr>
          <p:cNvPr id="16" name="Text 133"/>
          <p:cNvSpPr txBox="1"/>
          <p:nvPr/>
        </p:nvSpPr>
        <p:spPr>
          <a:xfrm>
            <a:off x="1325880" y="4526280"/>
            <a:ext cx="4539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improved model gains on Agreeableness and Neuroticism but loses on Conscientiousness, so the averages tie.</a:t>
            </a:r>
            <a:endParaRPr lang="en-US" sz="1600" dirty="0"/>
          </a:p>
        </p:txBody>
      </p:sp>
      <p:sp>
        <p:nvSpPr>
          <p:cNvPr id="17" name="Dot 134"/>
          <p:cNvSpPr/>
          <p:nvPr/>
        </p:nvSpPr>
        <p:spPr>
          <a:xfrm>
            <a:off x="6231636" y="46177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!</a:t>
            </a:r>
            <a:endParaRPr lang="en-US" sz="2000" dirty="0"/>
          </a:p>
        </p:txBody>
      </p:sp>
      <p:sp>
        <p:nvSpPr>
          <p:cNvPr id="18" name="Text 135"/>
          <p:cNvSpPr txBox="1"/>
          <p:nvPr/>
        </p:nvSpPr>
        <p:spPr>
          <a:xfrm>
            <a:off x="7008876" y="4526280"/>
            <a:ext cx="4539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Correlations of this size are useful for group-level patterns, not for judging one person.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Resumes: improved model separates jobs</a:t>
            </a:r>
            <a:endParaRPr lang="en-US" sz="3600" dirty="0"/>
          </a:p>
        </p:txBody>
      </p:sp>
      <p:sp>
        <p:nvSpPr>
          <p:cNvPr id="3" name="Card 136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4" name="Text 137"/>
          <p:cNvSpPr txBox="1"/>
          <p:nvPr/>
        </p:nvSpPr>
        <p:spPr>
          <a:xfrm>
            <a:off x="868680" y="19202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3×</a:t>
            </a:r>
            <a:endParaRPr lang="en-US" sz="7200" dirty="0"/>
          </a:p>
        </p:txBody>
      </p:sp>
      <p:sp>
        <p:nvSpPr>
          <p:cNvPr id="5" name="Text 138"/>
          <p:cNvSpPr txBox="1"/>
          <p:nvPr/>
        </p:nvSpPr>
        <p:spPr>
          <a:xfrm>
            <a:off x="868680" y="3291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stronger separation of job categories than the baseline</a:t>
            </a:r>
            <a:endParaRPr lang="en-US" sz="1800" dirty="0"/>
          </a:p>
        </p:txBody>
      </p:sp>
      <p:sp>
        <p:nvSpPr>
          <p:cNvPr id="6" name="Text 139"/>
          <p:cNvSpPr txBox="1"/>
          <p:nvPr/>
        </p:nvSpPr>
        <p:spPr>
          <a:xfrm>
            <a:off x="868680" y="43891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The baseline gives nearly the same scores to every category.</a:t>
            </a:r>
            <a:endParaRPr lang="en-US" sz="1500" dirty="0"/>
          </a:p>
        </p:txBody>
      </p:sp>
      <p:sp>
        <p:nvSpPr>
          <p:cNvPr id="7" name="Card 140"/>
          <p:cNvSpPr/>
          <p:nvPr/>
        </p:nvSpPr>
        <p:spPr>
          <a:xfrm>
            <a:off x="4389120" y="1554480"/>
            <a:ext cx="3488436" cy="3566160"/>
          </a:xfrm>
          <a:prstGeom prst="roundRect">
            <a:avLst>
              <a:gd name="adj" fmla="val 314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Dot 141"/>
          <p:cNvSpPr/>
          <p:nvPr/>
        </p:nvSpPr>
        <p:spPr>
          <a:xfrm>
            <a:off x="4663440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Text 142"/>
          <p:cNvSpPr txBox="1"/>
          <p:nvPr/>
        </p:nvSpPr>
        <p:spPr>
          <a:xfrm>
            <a:off x="5303520" y="1783080"/>
            <a:ext cx="23911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Matches intuition</a:t>
            </a:r>
            <a:endParaRPr lang="en-US" sz="1800" dirty="0"/>
          </a:p>
        </p:txBody>
      </p:sp>
      <p:sp>
        <p:nvSpPr>
          <p:cNvPr id="10" name="Text 143"/>
          <p:cNvSpPr txBox="1"/>
          <p:nvPr/>
        </p:nvSpPr>
        <p:spPr>
          <a:xfrm>
            <a:off x="4663440" y="2514600"/>
            <a:ext cx="29397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Fitness and Teacher highest on Extraversion; Designer lowest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Teacher and Designer highest on Openness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Sales highest on Agreeableness</a:t>
            </a:r>
            <a:endParaRPr lang="en-US" sz="1500" dirty="0"/>
          </a:p>
        </p:txBody>
      </p:sp>
      <p:sp>
        <p:nvSpPr>
          <p:cNvPr id="11" name="Card 144"/>
          <p:cNvSpPr/>
          <p:nvPr/>
        </p:nvSpPr>
        <p:spPr>
          <a:xfrm>
            <a:off x="8151876" y="1554480"/>
            <a:ext cx="3488436" cy="3566160"/>
          </a:xfrm>
          <a:prstGeom prst="roundRect">
            <a:avLst>
              <a:gd name="adj" fmla="val 314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2" name="Dot 145"/>
          <p:cNvSpPr/>
          <p:nvPr/>
        </p:nvSpPr>
        <p:spPr>
          <a:xfrm>
            <a:off x="8426196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13" name="Text 146"/>
          <p:cNvSpPr txBox="1"/>
          <p:nvPr/>
        </p:nvSpPr>
        <p:spPr>
          <a:xfrm>
            <a:off x="9066276" y="1783080"/>
            <a:ext cx="23911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Does not fit theory</a:t>
            </a:r>
            <a:endParaRPr lang="en-US" sz="1800" dirty="0"/>
          </a:p>
        </p:txBody>
      </p:sp>
      <p:sp>
        <p:nvSpPr>
          <p:cNvPr id="14" name="Text 147"/>
          <p:cNvSpPr txBox="1"/>
          <p:nvPr/>
        </p:nvSpPr>
        <p:spPr>
          <a:xfrm>
            <a:off x="8426196" y="2514600"/>
            <a:ext cx="29397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Information Technology lowest on Openness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Designer lowest on Conscientiousness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Accountant (0.52) is not the most conscientious</a:t>
            </a:r>
            <a:endParaRPr lang="en-US" sz="1500" dirty="0"/>
          </a:p>
        </p:txBody>
      </p:sp>
      <p:sp>
        <p:nvSpPr>
          <p:cNvPr id="15" name="Text 148"/>
          <p:cNvSpPr txBox="1"/>
          <p:nvPr/>
        </p:nvSpPr>
        <p:spPr>
          <a:xfrm>
            <a:off x="4389120" y="5349240"/>
            <a:ext cx="7251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Based on 300 sampled resumes, about 12 per category: signals to test on the full dataset, not proven differences.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we add beyond the paper</a:t>
            </a:r>
            <a:endParaRPr lang="en-US" sz="3600" dirty="0"/>
          </a:p>
        </p:txBody>
      </p:sp>
      <p:graphicFrame>
        <p:nvGraphicFramePr>
          <p:cNvPr id="10" name="Novel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396849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Grunenberg et al. (2024)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This project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Text features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Averaged GloVe + TF-IDF/SVD + LIWC + LDA (694 features)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TF-IDF/SVD (baseline) or contextual Sentence-BERT (improved)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Random Forest / Lasso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Random Forest (baseline) or XGBoost (improved)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Explainability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 (listed as future work)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SHAP values on the improved model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Training data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Proprietary recruiting data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Public essays corpus, so the work is reproducible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Criterion validity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Self-reported vocational interests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Job category of real resumes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Deployment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 (research only)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FastAPI REST service + React web app with PDF upload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49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The transfer setup is itself a contribution: it shows how far a model trained on one kind of text carries over to resumes when no labeled resumes exist.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Deployed as a web application</a:t>
            </a:r>
            <a:endParaRPr lang="en-US" sz="3600" dirty="0"/>
          </a:p>
        </p:txBody>
      </p:sp>
      <p:sp>
        <p:nvSpPr>
          <p:cNvPr id="3" name="Card 150"/>
          <p:cNvSpPr/>
          <p:nvPr/>
        </p:nvSpPr>
        <p:spPr>
          <a:xfrm>
            <a:off x="548640" y="1554480"/>
            <a:ext cx="32004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4" name="Text 151"/>
          <p:cNvSpPr txBox="1"/>
          <p:nvPr/>
        </p:nvSpPr>
        <p:spPr>
          <a:xfrm>
            <a:off x="82296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Front end</a:t>
            </a:r>
            <a:endParaRPr lang="en-US" sz="2000" dirty="0"/>
          </a:p>
        </p:txBody>
      </p:sp>
      <p:sp>
        <p:nvSpPr>
          <p:cNvPr id="5" name="Text 152"/>
          <p:cNvSpPr txBox="1"/>
          <p:nvPr/>
        </p:nvSpPr>
        <p:spPr>
          <a:xfrm>
            <a:off x="822960" y="21214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React + TypeScript (Vite)</a:t>
            </a:r>
            <a:endParaRPr lang="en-US" sz="1500" dirty="0"/>
          </a:p>
        </p:txBody>
      </p:sp>
      <p:sp>
        <p:nvSpPr>
          <p:cNvPr id="6" name="Text 153"/>
          <p:cNvSpPr txBox="1"/>
          <p:nvPr/>
        </p:nvSpPr>
        <p:spPr>
          <a:xfrm>
            <a:off x="822960" y="25146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Paste text or upload a PDF, choose a model, see five trait scores</a:t>
            </a:r>
            <a:endParaRPr lang="en-US" sz="1400" dirty="0"/>
          </a:p>
        </p:txBody>
      </p:sp>
      <p:sp>
        <p:nvSpPr>
          <p:cNvPr id="7" name="Arrow 154"/>
          <p:cNvSpPr/>
          <p:nvPr/>
        </p:nvSpPr>
        <p:spPr>
          <a:xfrm>
            <a:off x="3847338" y="2423160"/>
            <a:ext cx="548640" cy="411480"/>
          </a:xfrm>
          <a:prstGeom prst="rightArrow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Card 155"/>
          <p:cNvSpPr/>
          <p:nvPr/>
        </p:nvSpPr>
        <p:spPr>
          <a:xfrm>
            <a:off x="4494276" y="1554480"/>
            <a:ext cx="32004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Text 156"/>
          <p:cNvSpPr txBox="1"/>
          <p:nvPr/>
        </p:nvSpPr>
        <p:spPr>
          <a:xfrm>
            <a:off x="4768596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Back end</a:t>
            </a:r>
            <a:endParaRPr lang="en-US" sz="2000" dirty="0"/>
          </a:p>
        </p:txBody>
      </p:sp>
      <p:sp>
        <p:nvSpPr>
          <p:cNvPr id="10" name="Text 157"/>
          <p:cNvSpPr txBox="1"/>
          <p:nvPr/>
        </p:nvSpPr>
        <p:spPr>
          <a:xfrm>
            <a:off x="4768596" y="21214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FastAPI REST service</a:t>
            </a:r>
            <a:endParaRPr lang="en-US" sz="1500" dirty="0"/>
          </a:p>
        </p:txBody>
      </p:sp>
      <p:sp>
        <p:nvSpPr>
          <p:cNvPr id="11" name="Text 158"/>
          <p:cNvSpPr txBox="1"/>
          <p:nvPr/>
        </p:nvSpPr>
        <p:spPr>
          <a:xfrm>
            <a:off x="4768596" y="25146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Extracts PDF text with pdfplumber and scores it with the chosen model</a:t>
            </a:r>
            <a:endParaRPr lang="en-US" sz="1400" dirty="0"/>
          </a:p>
        </p:txBody>
      </p:sp>
      <p:sp>
        <p:nvSpPr>
          <p:cNvPr id="12" name="Arrow 159"/>
          <p:cNvSpPr/>
          <p:nvPr/>
        </p:nvSpPr>
        <p:spPr>
          <a:xfrm>
            <a:off x="7792974" y="2423160"/>
            <a:ext cx="548640" cy="411480"/>
          </a:xfrm>
          <a:prstGeom prst="rightArrow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Card 160"/>
          <p:cNvSpPr/>
          <p:nvPr/>
        </p:nvSpPr>
        <p:spPr>
          <a:xfrm>
            <a:off x="8439912" y="1554480"/>
            <a:ext cx="32004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Text 161"/>
          <p:cNvSpPr txBox="1"/>
          <p:nvPr/>
        </p:nvSpPr>
        <p:spPr>
          <a:xfrm>
            <a:off x="8714232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Models</a:t>
            </a:r>
            <a:endParaRPr lang="en-US" sz="2000" dirty="0"/>
          </a:p>
        </p:txBody>
      </p:sp>
      <p:sp>
        <p:nvSpPr>
          <p:cNvPr id="15" name="Text 162"/>
          <p:cNvSpPr txBox="1"/>
          <p:nvPr/>
        </p:nvSpPr>
        <p:spPr>
          <a:xfrm>
            <a:off x="8714232" y="21214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Two joblib bundles</a:t>
            </a:r>
            <a:endParaRPr lang="en-US" sz="1500" dirty="0"/>
          </a:p>
        </p:txBody>
      </p:sp>
      <p:sp>
        <p:nvSpPr>
          <p:cNvPr id="16" name="Text 163"/>
          <p:cNvSpPr txBox="1"/>
          <p:nvPr/>
        </p:nvSpPr>
        <p:spPr>
          <a:xfrm>
            <a:off x="8714232" y="25146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Baseline and improved, each with its feature extractor and five classifiers</a:t>
            </a:r>
            <a:endParaRPr lang="en-US" sz="1400" dirty="0"/>
          </a:p>
        </p:txBody>
      </p:sp>
      <p:sp>
        <p:nvSpPr>
          <p:cNvPr id="17" name="Text 164"/>
          <p:cNvSpPr txBox="1"/>
          <p:nvPr/>
        </p:nvSpPr>
        <p:spPr>
          <a:xfrm>
            <a:off x="54864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API endpoints</a:t>
            </a:r>
            <a:endParaRPr lang="en-US" sz="1800" dirty="0"/>
          </a:p>
        </p:txBody>
      </p:sp>
      <p:sp>
        <p:nvSpPr>
          <p:cNvPr id="18" name="Text 165"/>
          <p:cNvSpPr txBox="1"/>
          <p:nvPr/>
        </p:nvSpPr>
        <p:spPr>
          <a:xfrm>
            <a:off x="54864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/api/v1/predict</a:t>
            </a:r>
            <a:endParaRPr lang="en-US" sz="1400" dirty="0"/>
          </a:p>
        </p:txBody>
      </p:sp>
      <p:sp>
        <p:nvSpPr>
          <p:cNvPr id="19" name="Text 166"/>
          <p:cNvSpPr txBox="1"/>
          <p:nvPr/>
        </p:nvSpPr>
        <p:spPr>
          <a:xfrm>
            <a:off x="45720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Score text with the baseline or improved model</a:t>
            </a:r>
            <a:endParaRPr lang="en-US" sz="1400" dirty="0"/>
          </a:p>
        </p:txBody>
      </p:sp>
      <p:sp>
        <p:nvSpPr>
          <p:cNvPr id="20" name="Text 167"/>
          <p:cNvSpPr txBox="1"/>
          <p:nvPr/>
        </p:nvSpPr>
        <p:spPr>
          <a:xfrm>
            <a:off x="548640" y="4864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/api/v1/extract/pdf</a:t>
            </a:r>
            <a:endParaRPr lang="en-US" sz="1400" dirty="0"/>
          </a:p>
        </p:txBody>
      </p:sp>
      <p:sp>
        <p:nvSpPr>
          <p:cNvPr id="21" name="Text 168"/>
          <p:cNvSpPr txBox="1"/>
          <p:nvPr/>
        </p:nvSpPr>
        <p:spPr>
          <a:xfrm>
            <a:off x="4572000" y="4864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Extract text from an uploaded PDF</a:t>
            </a:r>
            <a:endParaRPr lang="en-US" sz="1400" dirty="0"/>
          </a:p>
        </p:txBody>
      </p:sp>
      <p:sp>
        <p:nvSpPr>
          <p:cNvPr id="22" name="Text 169"/>
          <p:cNvSpPr txBox="1"/>
          <p:nvPr/>
        </p:nvSpPr>
        <p:spPr>
          <a:xfrm>
            <a:off x="548640" y="5294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/api/v1/predict/pdf</a:t>
            </a:r>
            <a:endParaRPr lang="en-US" sz="1400" dirty="0"/>
          </a:p>
        </p:txBody>
      </p:sp>
      <p:sp>
        <p:nvSpPr>
          <p:cNvPr id="23" name="Text 170"/>
          <p:cNvSpPr txBox="1"/>
          <p:nvPr/>
        </p:nvSpPr>
        <p:spPr>
          <a:xfrm>
            <a:off x="4572000" y="5294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Extract and score a PDF in one call</a:t>
            </a:r>
            <a:endParaRPr lang="en-US" sz="1400" dirty="0"/>
          </a:p>
        </p:txBody>
      </p:sp>
      <p:sp>
        <p:nvSpPr>
          <p:cNvPr id="24" name="Text 171"/>
          <p:cNvSpPr txBox="1"/>
          <p:nvPr/>
        </p:nvSpPr>
        <p:spPr>
          <a:xfrm>
            <a:off x="548640" y="57241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/api/v1/models</a:t>
            </a:r>
            <a:endParaRPr lang="en-US" sz="1400" dirty="0"/>
          </a:p>
        </p:txBody>
      </p:sp>
      <p:sp>
        <p:nvSpPr>
          <p:cNvPr id="25" name="Text 172"/>
          <p:cNvSpPr txBox="1"/>
          <p:nvPr/>
        </p:nvSpPr>
        <p:spPr>
          <a:xfrm>
            <a:off x="4572000" y="57241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Model availability (plus /health/ready)</a:t>
            </a:r>
            <a:endParaRPr lang="en-US" sz="1400" dirty="0"/>
          </a:p>
        </p:txBody>
      </p:sp>
      <p:sp>
        <p:nvSpPr>
          <p:cNvPr id="26" name="Card 173"/>
          <p:cNvSpPr/>
          <p:nvPr/>
        </p:nvSpPr>
        <p:spPr>
          <a:xfrm>
            <a:off x="8778240" y="4023360"/>
            <a:ext cx="2862072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7" name="Text 174"/>
          <p:cNvSpPr txBox="1"/>
          <p:nvPr/>
        </p:nvSpPr>
        <p:spPr>
          <a:xfrm>
            <a:off x="9006840" y="41605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Built-in guardrails</a:t>
            </a:r>
            <a:endParaRPr lang="en-US" sz="1600" dirty="0"/>
          </a:p>
        </p:txBody>
      </p:sp>
      <p:sp>
        <p:nvSpPr>
          <p:cNvPr id="28" name="Text 175"/>
          <p:cNvSpPr txBox="1"/>
          <p:nvPr/>
        </p:nvSpPr>
        <p:spPr>
          <a:xfrm>
            <a:off x="9006840" y="4572000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Rejects inputs under 20 words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Warns when a CV exceeds the Sentence-BERT input limit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Limitations</a:t>
            </a:r>
            <a:endParaRPr lang="en-US" sz="3600" dirty="0"/>
          </a:p>
        </p:txBody>
      </p:sp>
      <p:sp>
        <p:nvSpPr>
          <p:cNvPr id="3" name="Card 176"/>
          <p:cNvSpPr/>
          <p:nvPr/>
        </p:nvSpPr>
        <p:spPr>
          <a:xfrm>
            <a:off x="548640" y="1554480"/>
            <a:ext cx="3931920" cy="448056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4" name="Text 177"/>
          <p:cNvSpPr txBox="1"/>
          <p:nvPr/>
        </p:nvSpPr>
        <p:spPr>
          <a:xfrm>
            <a:off x="86868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Input truncation</a:t>
            </a:r>
            <a:endParaRPr lang="en-US" sz="1800" dirty="0"/>
          </a:p>
        </p:txBody>
      </p:sp>
      <p:sp>
        <p:nvSpPr>
          <p:cNvPr id="5" name="Text 178"/>
          <p:cNvSpPr txBox="1"/>
          <p:nvPr/>
        </p:nvSpPr>
        <p:spPr>
          <a:xfrm>
            <a:off x="868680" y="22860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</a:t>
            </a:r>
            <a:endParaRPr lang="en-US" sz="7200" dirty="0"/>
          </a:p>
        </p:txBody>
      </p:sp>
      <p:sp>
        <p:nvSpPr>
          <p:cNvPr id="6" name="Text 179"/>
          <p:cNvSpPr txBox="1"/>
          <p:nvPr/>
        </p:nvSpPr>
        <p:spPr>
          <a:xfrm>
            <a:off x="86868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word pieces read by all-MiniLM-L6-v2</a:t>
            </a:r>
            <a:endParaRPr lang="en-US" sz="1500" dirty="0"/>
          </a:p>
        </p:txBody>
      </p:sp>
      <p:sp>
        <p:nvSpPr>
          <p:cNvPr id="7" name="Text 180"/>
          <p:cNvSpPr txBox="1"/>
          <p:nvPr/>
        </p:nvSpPr>
        <p:spPr>
          <a:xfrm>
            <a:off x="868680" y="40690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Essays average 652 words and resumes 811, so the improved model sees only the start of each document.</a:t>
            </a:r>
            <a:endParaRPr lang="en-US" sz="1500" dirty="0"/>
          </a:p>
        </p:txBody>
      </p:sp>
      <p:sp>
        <p:nvSpPr>
          <p:cNvPr id="8" name="Dot 181"/>
          <p:cNvSpPr/>
          <p:nvPr/>
        </p:nvSpPr>
        <p:spPr>
          <a:xfrm>
            <a:off x="4937760" y="16002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182"/>
          <p:cNvSpPr txBox="1"/>
          <p:nvPr/>
        </p:nvSpPr>
        <p:spPr>
          <a:xfrm>
            <a:off x="5715000" y="1554480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Domain shift</a:t>
            </a:r>
            <a:endParaRPr lang="en-US" sz="1800" dirty="0"/>
          </a:p>
        </p:txBody>
      </p:sp>
      <p:sp>
        <p:nvSpPr>
          <p:cNvPr id="10" name="Text 183"/>
          <p:cNvSpPr txBox="1"/>
          <p:nvPr/>
        </p:nvSpPr>
        <p:spPr>
          <a:xfrm>
            <a:off x="5715000" y="1920240"/>
            <a:ext cx="5925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Trained on student essays, so resume scores cannot be checked against true personality.</a:t>
            </a:r>
            <a:endParaRPr lang="en-US" sz="1500" dirty="0"/>
          </a:p>
        </p:txBody>
      </p:sp>
      <p:sp>
        <p:nvSpPr>
          <p:cNvPr id="11" name="Dot 184"/>
          <p:cNvSpPr/>
          <p:nvPr/>
        </p:nvSpPr>
        <p:spPr>
          <a:xfrm>
            <a:off x="4937760" y="27432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85"/>
          <p:cNvSpPr txBox="1"/>
          <p:nvPr/>
        </p:nvSpPr>
        <p:spPr>
          <a:xfrm>
            <a:off x="5715000" y="2697480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Small validation sample</a:t>
            </a:r>
            <a:endParaRPr lang="en-US" sz="1800" dirty="0"/>
          </a:p>
        </p:txBody>
      </p:sp>
      <p:sp>
        <p:nvSpPr>
          <p:cNvPr id="13" name="Text 186"/>
          <p:cNvSpPr txBox="1"/>
          <p:nvPr/>
        </p:nvSpPr>
        <p:spPr>
          <a:xfrm>
            <a:off x="5715000" y="3063240"/>
            <a:ext cx="5925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Category means use 300 resumes, about 12 per category; single differences are noisy.</a:t>
            </a:r>
            <a:endParaRPr lang="en-US" sz="1500" dirty="0"/>
          </a:p>
        </p:txBody>
      </p:sp>
      <p:sp>
        <p:nvSpPr>
          <p:cNvPr id="14" name="Dot 187"/>
          <p:cNvSpPr/>
          <p:nvPr/>
        </p:nvSpPr>
        <p:spPr>
          <a:xfrm>
            <a:off x="4937760" y="38862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88"/>
          <p:cNvSpPr txBox="1"/>
          <p:nvPr/>
        </p:nvSpPr>
        <p:spPr>
          <a:xfrm>
            <a:off x="5715000" y="3840480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Interpretability</a:t>
            </a:r>
            <a:endParaRPr lang="en-US" sz="1800" dirty="0"/>
          </a:p>
        </p:txBody>
      </p:sp>
      <p:sp>
        <p:nvSpPr>
          <p:cNvPr id="16" name="Text 189"/>
          <p:cNvSpPr txBox="1"/>
          <p:nvPr/>
        </p:nvSpPr>
        <p:spPr>
          <a:xfrm>
            <a:off x="5715000" y="4206240"/>
            <a:ext cx="5925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SHAP ranks embedding dimensions, which are not human-readable words.</a:t>
            </a:r>
            <a:endParaRPr lang="en-US" sz="1500" dirty="0"/>
          </a:p>
        </p:txBody>
      </p:sp>
      <p:sp>
        <p:nvSpPr>
          <p:cNvPr id="17" name="Dot 190"/>
          <p:cNvSpPr/>
          <p:nvPr/>
        </p:nvSpPr>
        <p:spPr>
          <a:xfrm>
            <a:off x="4937760" y="50292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91"/>
          <p:cNvSpPr txBox="1"/>
          <p:nvPr/>
        </p:nvSpPr>
        <p:spPr>
          <a:xfrm>
            <a:off x="5715000" y="4983480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Ethics</a:t>
            </a:r>
            <a:endParaRPr lang="en-US" sz="1800" dirty="0"/>
          </a:p>
        </p:txBody>
      </p:sp>
      <p:sp>
        <p:nvSpPr>
          <p:cNvPr id="19" name="Text 192"/>
          <p:cNvSpPr txBox="1"/>
          <p:nvPr/>
        </p:nvSpPr>
        <p:spPr>
          <a:xfrm>
            <a:off x="5715000" y="5349240"/>
            <a:ext cx="5925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Scores are probabilities, not a clinical assessment or a final hiring decision tool.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 and future work</a:t>
            </a:r>
            <a:endParaRPr lang="en-US" sz="3600" dirty="0"/>
          </a:p>
        </p:txBody>
      </p:sp>
      <p:sp>
        <p:nvSpPr>
          <p:cNvPr id="3" name="Card 193"/>
          <p:cNvSpPr/>
          <p:nvPr/>
        </p:nvSpPr>
        <p:spPr>
          <a:xfrm>
            <a:off x="548640" y="1554480"/>
            <a:ext cx="5362956" cy="448056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4" name="Card 194"/>
          <p:cNvSpPr/>
          <p:nvPr/>
        </p:nvSpPr>
        <p:spPr>
          <a:xfrm>
            <a:off x="6277356" y="1554480"/>
            <a:ext cx="5362956" cy="448056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5" name="Text 195"/>
          <p:cNvSpPr txBox="1"/>
          <p:nvPr/>
        </p:nvSpPr>
        <p:spPr>
          <a:xfrm>
            <a:off x="868680" y="182880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What we found</a:t>
            </a:r>
            <a:endParaRPr lang="en-US" sz="2000" dirty="0"/>
          </a:p>
        </p:txBody>
      </p:sp>
      <p:sp>
        <p:nvSpPr>
          <p:cNvPr id="6" name="Text 196"/>
          <p:cNvSpPr txBox="1"/>
          <p:nvPr/>
        </p:nvSpPr>
        <p:spPr>
          <a:xfrm>
            <a:off x="868680" y="2377440"/>
            <a:ext cx="47228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End-to-end system: Big Five from CV text, served through a web app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Both models predict only weakly (average r ≈ 0.12); Openness is the easiest trait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Sentence-BERT did not raise accuracy on essays, but separates job categories far more on resumes</a:t>
            </a:r>
            <a:endParaRPr lang="en-US" sz="1600" dirty="0"/>
          </a:p>
        </p:txBody>
      </p:sp>
      <p:sp>
        <p:nvSpPr>
          <p:cNvPr id="7" name="Text 197"/>
          <p:cNvSpPr txBox="1"/>
          <p:nvPr/>
        </p:nvSpPr>
        <p:spPr>
          <a:xfrm>
            <a:off x="6597396" y="182880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8" name="Dot 198"/>
          <p:cNvSpPr/>
          <p:nvPr/>
        </p:nvSpPr>
        <p:spPr>
          <a:xfrm>
            <a:off x="6597396" y="24231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199"/>
          <p:cNvSpPr txBox="1"/>
          <p:nvPr/>
        </p:nvSpPr>
        <p:spPr>
          <a:xfrm>
            <a:off x="7237476" y="2350008"/>
            <a:ext cx="40827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Chunk long documents and average embeddings to avoid truncation</a:t>
            </a:r>
            <a:endParaRPr lang="en-US" sz="1600" dirty="0"/>
          </a:p>
        </p:txBody>
      </p:sp>
      <p:sp>
        <p:nvSpPr>
          <p:cNvPr id="10" name="Dot 200"/>
          <p:cNvSpPr/>
          <p:nvPr/>
        </p:nvSpPr>
        <p:spPr>
          <a:xfrm>
            <a:off x="6597396" y="32918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201"/>
          <p:cNvSpPr txBox="1"/>
          <p:nvPr/>
        </p:nvSpPr>
        <p:spPr>
          <a:xfrm>
            <a:off x="7237476" y="3218688"/>
            <a:ext cx="40827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Fine-tune a transformer end-to-end or add LIWC-style features</a:t>
            </a:r>
            <a:endParaRPr lang="en-US" sz="1600" dirty="0"/>
          </a:p>
        </p:txBody>
      </p:sp>
      <p:sp>
        <p:nvSpPr>
          <p:cNvPr id="12" name="Dot 202"/>
          <p:cNvSpPr/>
          <p:nvPr/>
        </p:nvSpPr>
        <p:spPr>
          <a:xfrm>
            <a:off x="6597396" y="4160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203"/>
          <p:cNvSpPr txBox="1"/>
          <p:nvPr/>
        </p:nvSpPr>
        <p:spPr>
          <a:xfrm>
            <a:off x="7237476" y="4087368"/>
            <a:ext cx="40827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Score all 2,484 resumes and test category differences (ANOVA per trait)</a:t>
            </a:r>
            <a:endParaRPr lang="en-US" sz="1600" dirty="0"/>
          </a:p>
        </p:txBody>
      </p:sp>
      <p:sp>
        <p:nvSpPr>
          <p:cNvPr id="14" name="Dot 204"/>
          <p:cNvSpPr/>
          <p:nvPr/>
        </p:nvSpPr>
        <p:spPr>
          <a:xfrm>
            <a:off x="6597396" y="502920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205"/>
          <p:cNvSpPr txBox="1"/>
          <p:nvPr/>
        </p:nvSpPr>
        <p:spPr>
          <a:xfrm>
            <a:off x="7237476" y="4956048"/>
            <a:ext cx="40827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Map SHAP back to words or sentences a recruiter can read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g Five">
  <a:themeElements>
    <a:clrScheme name="Big Five">
      <a:dk1>
        <a:srgbClr val="1F2233"/>
      </a:dk1>
      <a:lt1>
        <a:srgbClr val="FFFFFF"/>
      </a:lt1>
      <a:dk2>
        <a:srgbClr val="2E2A5E"/>
      </a:dk2>
      <a:lt2>
        <a:srgbClr val="F1F0F7"/>
      </a:lt2>
      <a:accent1>
        <a:srgbClr val="5B4BB7"/>
      </a:accent1>
      <a:accent2>
        <a:srgbClr val="E8743B"/>
      </a:accent2>
      <a:accent3>
        <a:srgbClr val="1A8F87"/>
      </a:accent3>
      <a:accent4>
        <a:srgbClr val="C9456A"/>
      </a:accent4>
      <a:accent5>
        <a:srgbClr val="B8860B"/>
      </a:accent5>
      <a:accent6>
        <a:srgbClr val="5A6675"/>
      </a:accent6>
      <a:hlink>
        <a:srgbClr val="5B4BB7"/>
      </a:hlink>
      <a:folHlink>
        <a:srgbClr val="5A6675"/>
      </a:folHlink>
    </a:clrScheme>
    <a:fontScheme name="Big F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1605</Words>
  <Application>Microsoft Macintosh PowerPoint</Application>
  <PresentationFormat>Widescreen</PresentationFormat>
  <Paragraphs>253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Big Five</vt:lpstr>
      <vt:lpstr>Personality Prediction System via CV Analysis</vt:lpstr>
      <vt:lpstr>Why read personality from a CV</vt:lpstr>
      <vt:lpstr>The Big Five and our goals</vt:lpstr>
      <vt:lpstr>Two datasets, two roles</vt:lpstr>
      <vt:lpstr>Light, shared data preparation</vt:lpstr>
      <vt:lpstr>Two pipelines, five classifiers each</vt:lpstr>
      <vt:lpstr>Essays: weak signal, Openness leads</vt:lpstr>
      <vt:lpstr>Resumes: improved model separates jobs</vt:lpstr>
      <vt:lpstr>What we add beyond the paper</vt:lpstr>
      <vt:lpstr>Deployed as a web application</vt:lpstr>
      <vt:lpstr>Limitations</vt:lpstr>
      <vt:lpstr>Conclusion and future work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Personality Prediction System via CV Analysis</dc:title>
  <dc:subject>PptxGenJS Presentation</dc:subject>
  <dc:creator>Thanh Hai Nguyen, Khanh Tran Nguyen</dc:creator>
  <cp:lastModifiedBy>Thanh Hai Nguyen</cp:lastModifiedBy>
  <cp:revision>3</cp:revision>
  <dcterms:created xsi:type="dcterms:W3CDTF">2026-10-06T00:20:28Z</dcterms:created>
  <dcterms:modified xsi:type="dcterms:W3CDTF">2026-10-10T20:14:40Z</dcterms:modified>
</cp:coreProperties>
</file>